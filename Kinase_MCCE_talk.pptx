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When do kinase inhibitors change
protonation or tautomeric state upon binding?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91840"/>
            <a:ext cx="10058400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Ranepura · Chowdhury · Rosenzweig · Rustenburg · López-Ríos de Castro · Mao · Chodera · Singh · Gunner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5"/>
                </a:solidFill>
                <a:latin typeface="Calibri"/>
              </a:rPr>
              <a:t>CUNY / City College of New York  ·  Memorial Sloan Kettering  ·  Weill Cornell  ·  FU Berlin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572000"/>
            <a:ext cx="10058400" cy="164592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7C2A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kinase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4709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7C2A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FDA-approved inhibitors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4709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7C2A"/>
                </a:solidFill>
                <a:latin typeface="Calibri"/>
              </a:rPr>
              <a:t>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0376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crystal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does protonation state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The overlooked degree of freedom in kinase drug 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5394960"/>
          </a:xfrm>
          <a:prstGeom prst="rect">
            <a:avLst/>
          </a:prstGeom>
          <a:solidFill>
            <a:srgbClr val="F2F4F7"/>
          </a:solidFill>
          <a:ln w="1270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65E8E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⚠  Standard workflows assign a single, fixed protonation state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⚠  Protonation and tautomer states ignored during MD/FEP simulations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⚠  Wrong protonation → large errors in predicted ΔG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⚠  Experimental proton positions (NMR) are not compatible with 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5943600" cy="5394960"/>
          </a:xfrm>
          <a:prstGeom prst="rect">
            <a:avLst/>
          </a:prstGeom>
          <a:solidFill>
            <a:srgbClr val="F2F4F7"/>
          </a:solidFill>
          <a:ln w="1270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65E8E"/>
                </a:solidFill>
                <a:latin typeface="Calibri"/>
              </a:rPr>
              <a:t>Key Questions We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0020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❶  Do kinase inhibitors change charge upon binding?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❷  Do they change tautomeric state?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❸  Does the protein's net charge shift when a charged ligand binds?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4A"/>
                </a:solidFill>
                <a:latin typeface="Calibri"/>
              </a:rPr>
              <a:t>❹  Does DFG conformation predict these changes?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6400800"/>
            <a:ext cx="11704320" cy="384048"/>
          </a:xfrm>
          <a:prstGeom prst="rect">
            <a:avLst/>
          </a:prstGeom>
          <a:solidFill>
            <a:srgbClr val="D6E8F5"/>
          </a:solidFill>
          <a:ln w="1905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Calibri"/>
              </a:rPr>
              <a:t>💡  MCCE computes full Boltzmann distributions of protonation + tautomer states — no fixed protonation, true equilibrium sampling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Approach: MCCE4 Computational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Three independent calculations per complex → Boltzmann-weighted conformer probabilities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498079" cy="548640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3832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65E8E"/>
                </a:solidFill>
                <a:latin typeface="Calibri"/>
              </a:rPr>
              <a:t>[ Figure 1 — MCCE4 Workflow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097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Three parallel calculations: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00200"/>
            <a:ext cx="457200" cy="4572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600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Apoprotein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5E8E"/>
                </a:solidFill>
                <a:latin typeface="Calibri"/>
              </a:rPr>
              <a:t>Ligand removed, no relaxation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457200" cy="4572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Holoprotein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5E8E"/>
                </a:solidFill>
                <a:latin typeface="Calibri"/>
              </a:rPr>
              <a:t>Full complex, ligand in binding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069080"/>
            <a:ext cx="457200" cy="4572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Isolated ligand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5E8E"/>
                </a:solidFill>
                <a:latin typeface="Calibri"/>
              </a:rPr>
              <a:t>Drug alone in implicit solvent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Outputs: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6636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E4A"/>
                </a:solidFill>
                <a:latin typeface="Calibri"/>
              </a:rPr>
              <a:t>P(i)soln  — conformer probability in solution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4A"/>
                </a:solidFill>
                <a:latin typeface="Calibri"/>
              </a:rPr>
              <a:t>P(i)prot  — conformer probability when bound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4A"/>
                </a:solidFill>
                <a:latin typeface="Calibri"/>
              </a:rPr>
              <a:t>Δcrg      — change in Boltzmann-avg charge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Inhibitor Charge in Solution at pH 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All 18 inhibitors characterized before binding — rich conformer diversity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389120" cy="5486400"/>
          </a:xfrm>
          <a:prstGeom prst="rect">
            <a:avLst/>
          </a:prstGeom>
          <a:solidFill>
            <a:srgbClr val="F2F4F7"/>
          </a:solidFill>
          <a:ln w="1270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5E8E"/>
                </a:solidFill>
                <a:latin typeface="Calibri"/>
              </a:rPr>
              <a:t>Inhibitor conformer landscape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005840" cy="658368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0–1.6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0020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Boltzmann avg charge
range (pH 7.4)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1005840" cy="658368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32888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3288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conformers per inhibitor
within 6 kcal/mol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65576"/>
            <a:ext cx="1005840" cy="658368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11/18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465576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lowest-energy state is +1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98264"/>
            <a:ext cx="1005840" cy="658368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98264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98264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lowest-energy state is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30952"/>
            <a:ext cx="1005840" cy="658368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3095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33095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Crizotinib: lowest state +2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051560"/>
            <a:ext cx="6949440" cy="5486400"/>
          </a:xfrm>
          <a:prstGeom prst="rect">
            <a:avLst/>
          </a:prstGeom>
          <a:solidFill>
            <a:srgbClr val="F2F4F7"/>
          </a:solidFill>
          <a:ln w="1270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11430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5E8E"/>
                </a:solidFill>
                <a:latin typeface="Calibri"/>
              </a:rPr>
              <a:t>Selected values (Table 1) — crg_soln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1508760"/>
            <a:ext cx="69494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15361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Kinase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Inhibitor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536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 conf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536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crg_soln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856231"/>
            <a:ext cx="694944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1892807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ALK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89280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Alectinib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9280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89280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2189987"/>
            <a:ext cx="6949440" cy="33375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2226563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ALK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22656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Crizotinib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22656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22656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C2A"/>
                </a:solidFill>
                <a:latin typeface="Calibri"/>
              </a:rPr>
              <a:t>1.61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2523743"/>
            <a:ext cx="694944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2560319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EGFR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5603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Gefitinib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56031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56031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2857499"/>
            <a:ext cx="6949440" cy="33375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2894075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EGFR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89407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Lapatinib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89407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89407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0.95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191255"/>
            <a:ext cx="694944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3227831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EGFR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2278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Osimertinib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22783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322783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0.98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3525011"/>
            <a:ext cx="6949440" cy="33375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3561587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ABL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56158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Bosutinib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56158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35615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0.94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3858767"/>
            <a:ext cx="694944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3895343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ABL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389534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Nilotinib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389534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389534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0.09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0" y="4192523"/>
            <a:ext cx="6949440" cy="33375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0" y="4229099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MEK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42290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Cobimetinib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422909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422909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0.99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4526279"/>
            <a:ext cx="694944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0" y="4562855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VEGFR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456285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Axitinib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456285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0" y="456285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7760" y="4860035"/>
            <a:ext cx="6949440" cy="33375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0" y="4896611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VEGFR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489661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Sunitinib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489661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489661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0.99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5193791"/>
            <a:ext cx="694944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0640" y="5230367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MET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523036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Crizotinib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523036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0" y="523036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C2A"/>
                </a:solidFill>
                <a:latin typeface="Calibri"/>
              </a:rPr>
              <a:t>1.61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0" y="5527547"/>
            <a:ext cx="6949440" cy="33375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20640" y="5564123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JAK3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556412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Tofacitinib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556412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41280" y="556412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0.03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Inhibitor Charge Changes Upon Binding  [Figure 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Boltzmann-weighted ensemble charge: free solution vs. kinase-bound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00" cy="548640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65E8E"/>
                </a:solidFill>
                <a:latin typeface="Calibri"/>
              </a:rPr>
              <a:t>[ Figure 3 — Charge: solution (x) vs. bound (y) ]
Points above diagonal = more charged when bound
Points below diagonal = less charged when 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Key findings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600200"/>
            <a:ext cx="63500" cy="10058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Charge can go up OR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8424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Desolvation alone doesn't dictate outcome — binding-site
electrostatics compete with solvation penalty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834640"/>
            <a:ext cx="63500" cy="10058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880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Inhibitors near pKa are most sensitive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21868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Small energy gaps → large shifts in conformer
probability upon binding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069080"/>
            <a:ext cx="63500" cy="10058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4114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Weak overall correlation r = 0.55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45312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Solution charge is a poor predictor of bound charge;
complex depends on each binding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303520"/>
            <a:ext cx="63500" cy="10058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5349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DFG-out → minimal charge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68756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DFG-in binding shows greater variability in
inhibitor charge upon binding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6446520"/>
            <a:ext cx="5120640" cy="347472"/>
          </a:xfrm>
          <a:prstGeom prst="rect">
            <a:avLst/>
          </a:prstGeom>
          <a:solidFill>
            <a:srgbClr val="D6E8F5"/>
          </a:solidFill>
          <a:ln w="1905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65196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⚠  Solution-state charge cannot predict bound-state charge — each kinase–inhibitor pair must be evaluated independently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Protein Protonation: a Vast but Concentrated Ensemble  [Figure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ABL/Bosutinib as representative example — 2,448 unique protonation microstates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85800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291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65E8E"/>
                </a:solidFill>
                <a:latin typeface="Calibri"/>
              </a:rPr>
              <a:t>[ Figure 2 — ABL microstate charge distribution ]
(A) Structure  |  (B) Microstate histogram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What this tells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00200"/>
            <a:ext cx="365760" cy="36576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0020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Net charge spans −10 to −1  (Boltzmann avg = −3.89)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532888"/>
            <a:ext cx="365760" cy="36576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532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53288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Most residues fully ionized (&gt;99%) at pH 7.4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465576"/>
            <a:ext cx="365760" cy="36576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4655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465576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His &amp; Tyr create most of the microstate diversity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398264"/>
            <a:ext cx="365760" cy="36576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398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398264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50% of probability captured in just 115,932 microstates
out of 3,000,000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5330952"/>
            <a:ext cx="365760" cy="36576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5330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533095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The protein is NOT in a single protonation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355080"/>
            <a:ext cx="11704320" cy="438912"/>
          </a:xfrm>
          <a:prstGeom prst="rect">
            <a:avLst/>
          </a:prstGeom>
          <a:solidFill>
            <a:srgbClr val="D6E8F5"/>
          </a:solidFill>
          <a:ln w="1905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2823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Calibri"/>
              </a:rPr>
              <a:t>KEY: Protein net charge is buffered — it redistributes across many similar-energy
microstates upon ligand binding, with little overall change in total charge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Inhibitor-Specific Charge Behavior — Selected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Same inhibitor, different kinase → different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834640" cy="45720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834640" cy="502920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651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Alectinib: near pKa in solution (56% +1)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→ Shifts to 74% +1 when bound to ALK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Crizotinib: 62% +2 / 37% +1 in solution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→ 100% +1 when bound (ALK stabilizes +1)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51560"/>
            <a:ext cx="283464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07899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 vs ALK
(Crizotinib)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508760"/>
            <a:ext cx="2834640" cy="5029200"/>
          </a:xfrm>
          <a:prstGeom prst="rect">
            <a:avLst/>
          </a:prstGeom>
          <a:solidFill>
            <a:srgbClr val="F2F4F7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651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Same drug, different protein = different outcome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ALK → 100% +1 state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MET → mixture of +1 and 0 (avg 0.85)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MET does NOT stabilize positive charge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2834640" cy="4572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7899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EGFR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2834640" cy="5029200"/>
          </a:xfrm>
          <a:prstGeom prst="rect">
            <a:avLst/>
          </a:prstGeom>
          <a:solidFill>
            <a:srgbClr val="F2F4F7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651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Lapatinib: 5% neutral in solution → 55% neutral when bound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   (charge drops dramatically)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Gefitinib: 30% +1 in solution → 70% +1 when bound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   (charge increases, opposite direction!)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051560"/>
            <a:ext cx="2834640" cy="4572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07899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MEK
(Cobimetinib)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508760"/>
            <a:ext cx="2834640" cy="5029200"/>
          </a:xfrm>
          <a:prstGeom prst="rect">
            <a:avLst/>
          </a:prstGeom>
          <a:solidFill>
            <a:srgbClr val="F2F4F7"/>
          </a:solidFill>
          <a:ln w="1905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600200"/>
            <a:ext cx="2651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4AN2 structure: crg_soln=0.99 → crg_bound=0.15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   (largest charge drop in the dataset)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4LMN structure: crg_soln=0.99 → crg_bound=0.51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4A"/>
                </a:solidFill>
                <a:latin typeface="Calibri"/>
              </a:rPr>
              <a:t>   Same drug, same kinase, different crystal → different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Tautomer State Switches Upon Binding — A Key Novel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The dominant solution tautomer is NOT always the dominant bound-state tautomer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70432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01600" cy="9144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E4A"/>
                </a:solidFill>
                <a:latin typeface="Calibri"/>
              </a:rPr>
              <a:t>4 of 18 inhibitors have two tautomers within 2.8 kcal/mol — in this group, the largest conformer shifts occur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3749039" cy="43891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Imatinib / ABL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42032"/>
            <a:ext cx="3749039" cy="411480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320040" cy="32004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Lowest-energy solution tautomer
is NOT observed when 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320040" cy="32004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Protein enforces the minority
tautomer from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320040" cy="32004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3–6 kcal/mol differential
between tautomers in binding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2103120"/>
            <a:ext cx="3749039" cy="4389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21305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Ponatinib / DDR1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542032"/>
            <a:ext cx="3749039" cy="4114800"/>
          </a:xfrm>
          <a:prstGeom prst="rect">
            <a:avLst/>
          </a:prstGeom>
          <a:solidFill>
            <a:srgbClr val="F2F4F7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399" y="2651760"/>
            <a:ext cx="32004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Same behavior: solution-preferred
tautomer flips upon binding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399" y="3886200"/>
            <a:ext cx="32004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Bound tautomer stabilized by
binding-site interactions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5120640"/>
            <a:ext cx="32004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399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∆Taut = Yes (Table 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8" y="2103120"/>
            <a:ext cx="3749039" cy="43891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38" y="21305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Axitinib / VEGFR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8" y="2542032"/>
            <a:ext cx="3749039" cy="4114800"/>
          </a:xfrm>
          <a:prstGeom prst="rect">
            <a:avLst/>
          </a:prstGeom>
          <a:solidFill>
            <a:srgbClr val="F2F4F7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38" y="2651760"/>
            <a:ext cx="320040" cy="3200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3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18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N15 vs N14 protonation:
~15% probability shift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38" y="3886200"/>
            <a:ext cx="320040" cy="3200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38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18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Modest but measurable
tautomer redistribution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38" y="5120640"/>
            <a:ext cx="320040" cy="3200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38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18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Both tautomers sampled;
protein shifts the balance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446520"/>
            <a:ext cx="11704320" cy="384048"/>
          </a:xfrm>
          <a:prstGeom prst="rect">
            <a:avLst/>
          </a:prstGeom>
          <a:solidFill>
            <a:srgbClr val="D6E8F5"/>
          </a:solidFill>
          <a:ln w="1905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19672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Calibri"/>
              </a:rPr>
              <a:t>IMPLICATION: Tautomer assignment for drug-like molecules cannot be assumed from solution calculations alone.
The binding site can select a minority tautomer — invisible to standard pKa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Protein Residue Charge Changes Upon Binding  [Figure 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N = 3,508 titratable residues across 37 complexes — most are unchanged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85800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3832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65E8E"/>
                </a:solidFill>
                <a:latin typeface="Calibri"/>
              </a:rPr>
              <a:t>[ Figure 4 — A: scatter holo vs apo  |  B: structural overlay  |  C: distance dependence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What the data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636776"/>
            <a:ext cx="347472" cy="34747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6367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Most residues: no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202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Vast majority fall on identity line (Δq ≈ 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596896"/>
            <a:ext cx="347472" cy="34747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596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60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'Affected' outliers (|Δq| ≥ 0.2)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8803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Predominantly Lys, His, Cys residues near binding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557016"/>
            <a:ext cx="347472" cy="34747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5570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Largest shift: Lys1205 / 4MKC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8404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10 Å from ligand — long-range electrostatic effect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517136"/>
            <a:ext cx="347472" cy="34747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517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480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EGFR / Osimertinib (4ZAU)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800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Network response: Asp837 + Glu711/736 + His805/893
loses 1.05 protons on binding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5477256"/>
            <a:ext cx="347472" cy="34747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5477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440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Protein Δcrg is small (&lt; |0.2|)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760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Except 3 EGFR structures bound to Afatinib/Osimertinib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355080"/>
            <a:ext cx="11704320" cy="438912"/>
          </a:xfrm>
          <a:prstGeom prst="rect">
            <a:avLst/>
          </a:prstGeom>
          <a:solidFill>
            <a:srgbClr val="D6E8F5"/>
          </a:solidFill>
          <a:ln w="1905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42823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Calibri"/>
              </a:rPr>
              <a:t>Conclusion: Protein charge is buffered — a limited shell of binding-site residues
accounts for most of the protonation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DFG Conformation Does Not Predict Charge Changes  [Figure 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Empirical CDFs of net-charge change split by DFG-in vs DFG-out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85800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2004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65E8E"/>
                </a:solidFill>
                <a:latin typeface="Calibri"/>
              </a:rPr>
              <a:t>[ Figure 5 ]
(A) Inhibitor Δcharge ECDF — DFG-in (blue) vs DFG-out (orange)
(B) Kinase Δcharge ECDF — DFG-in (blue) vs DFG-out (orange)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Interpretation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347472" cy="7772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C2A"/>
                </a:solidFill>
                <a:latin typeface="Calibri"/>
              </a:rPr>
              <a:t>DFG-out inhibitors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9476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Almost universally near zero charge change upon binding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560320"/>
            <a:ext cx="347472" cy="777240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560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5E8E"/>
                </a:solidFill>
                <a:latin typeface="Calibri"/>
              </a:rPr>
              <a:t>DFG-in inhibitors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077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Greater diversity — some gain, some lose charge; not predictable a priori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520440"/>
            <a:ext cx="347472" cy="7772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Calibri"/>
              </a:rPr>
              <a:t>Kinases (both DFG states)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8679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Net charge changes are small regardless of DFG conformation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4480560"/>
            <a:ext cx="347472" cy="7772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480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7D46"/>
                </a:solidFill>
                <a:latin typeface="Calibri"/>
              </a:rPr>
              <a:t>DFG loop residues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8280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Asp-Phe-Gly residues show NO significant protonation shift in any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5440680"/>
            <a:ext cx="347472" cy="777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5440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Practical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78815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Do not use kinase DFG state as a proxy for expected ligand charge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Summary &amp; Take-Homes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What this means for kinase drug discovery and physics-based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669280" cy="2743200"/>
          </a:xfrm>
          <a:prstGeom prst="rect">
            <a:avLst/>
          </a:prstGeom>
          <a:solidFill>
            <a:srgbClr val="F2F4F7"/>
          </a:solidFill>
          <a:ln w="2540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669280" cy="438912"/>
          </a:xfrm>
          <a:prstGeom prst="rect">
            <a:avLst/>
          </a:prstGeom>
          <a:solidFill>
            <a:srgbClr val="26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0642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  Protein net charge is buffered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Binding a charged inhibitor does NOT shift protein net charge significantly.
Protein redistributes across many similar-energy microstates — effectively self-buffered.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5669280" cy="2743200"/>
          </a:xfrm>
          <a:prstGeom prst="rect">
            <a:avLst/>
          </a:prstGeom>
          <a:solidFill>
            <a:srgbClr val="F2F4F7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051560"/>
            <a:ext cx="5669280" cy="4389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0642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  Ligand charge is NOT predictable from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8191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r = 0.55 correlation between solution and bound charge.
Some inhibitors gain charge, some lose it — depends entirely on the binding 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77639"/>
            <a:ext cx="5669280" cy="2743200"/>
          </a:xfrm>
          <a:prstGeom prst="rect">
            <a:avLst/>
          </a:prstGeom>
          <a:solidFill>
            <a:srgbClr val="F2F4F7"/>
          </a:solidFill>
          <a:ln w="25400"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77639"/>
            <a:ext cx="5669280" cy="43891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32503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  Tautomers can switch upon binding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07991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The dominant solution tautomer may NOT be the dominant bound-state tautomer.
3–6 kcal/mol energy differentials between tautomers in the binding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77639"/>
            <a:ext cx="5669280" cy="2743200"/>
          </a:xfrm>
          <a:prstGeom prst="rect">
            <a:avLst/>
          </a:prstGeom>
          <a:solidFill>
            <a:srgbClr val="F2F4F7"/>
          </a:solidFill>
          <a:ln w="254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77639"/>
            <a:ext cx="5669280" cy="43891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032503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  DFG conformation is not a predictor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07991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Neither kinase nor inhibitor charge change shows strong DFG-state dependence.
Must evaluate each complex independently regardless of activation state.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MCCE: protonation + tautomer states as binding-site-specific properties, not fixed input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Implications for Drug Discovery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From methodology to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669280" cy="5486400"/>
          </a:xfrm>
          <a:prstGeom prst="rect">
            <a:avLst/>
          </a:prstGeom>
          <a:solidFill>
            <a:srgbClr val="F2F4F7"/>
          </a:solidFill>
          <a:ln w="12700">
            <a:solidFill>
              <a:srgbClr val="26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65E8E"/>
                </a:solidFill>
                <a:latin typeface="Calibri"/>
              </a:rPr>
              <a:t>Implications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73352"/>
            <a:ext cx="292608" cy="29260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733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FEP/MD pipelines should not fix protonation state
at setup — it introduces systematic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87752"/>
            <a:ext cx="292608" cy="29260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Rapid MCCE pre-screening can flag inhibitors with
unstable or ambiguous protonation states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Tautomer-switching candidates warrant extra
experimental attention (NMR, calorimetry)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16552"/>
            <a:ext cx="292608" cy="29260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165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Binding-site titration (not full protein) captures
most of the protonation response cheaply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30952"/>
            <a:ext cx="292608" cy="29260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309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Solution pKa tools (PROPKA, Epik) are useful
but insufficient for bound-state prediction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051560"/>
            <a:ext cx="5715000" cy="5486400"/>
          </a:xfrm>
          <a:prstGeom prst="rect">
            <a:avLst/>
          </a:prstGeom>
          <a:solidFill>
            <a:srgbClr val="F2F4F7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8B"/>
                </a:solidFill>
                <a:latin typeface="Calibri"/>
              </a:rPr>
              <a:t>Open Questions &amp; Future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673352"/>
            <a:ext cx="292608" cy="2926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6733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600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Extend to non-kinase targets — is protein
charge buffering universal?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587752"/>
            <a:ext cx="292608" cy="2926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5877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514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Couple MCCE states to FEP/ABFE to
quantify protonation contribution to ΔΔG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502152"/>
            <a:ext cx="292608" cy="2926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5021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429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Include explicit water molecules at
binding site (GCMC waters)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416552"/>
            <a:ext cx="292608" cy="2926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4165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343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Validate tautomer predictions experimentally
(NMR / isotope labeling)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330952"/>
            <a:ext cx="292608" cy="2926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3309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257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Expand to allosteric sites and covalent
inhibitors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